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152044"/>
          </a:solidFill>
          <a:ln w="12700">
            <a:solidFill>
              <a:srgbClr val="15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554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0.72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503920" y="3200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country-level correlation
</a:t>
            </a:r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AI adoption and GDP per capita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Amplifying the Digital Divide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972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49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cross-country and within-country exploration of generative AI use,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11 primary data sources across 38 countries.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 Preparation and Analysis  ·  Spring 2026  ·  University of St. Thomas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74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</a:t>
            </a:r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Research</a:t>
            </a:r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country, and across countries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generative AI adoption following — and amplifying — the existing digital divide?”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5029200" cy="2286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383280"/>
            <a:ext cx="109728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COUNTRIES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AI use vary by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and education?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US (Pew, Brookings) and EU (Eurostat) data on adoption by demographic group.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5029200" cy="2286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38328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COUNTRIES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AI use track GDP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internet penetration?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Microsoft AI Diffusion (34 countries) and World Bank/IMF macro indicators.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74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</a:t>
            </a:r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Research</a:t>
            </a:r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expected to see in the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1051560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01168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adoption follows existing digital-divide patterns.
</a:t>
            </a:r>
            <a:pPr algn="l" indent="0" marL="0">
              <a:buNone/>
            </a:pPr>
            <a:r>
              <a:rPr lang="en-US" sz="18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amplifying — not closing — the digital divide.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4251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countries: </a:t>
            </a:r>
            <a:pPr indent="0" marL="0">
              <a:buNone/>
            </a:pPr>
            <a:r>
              <a:rPr lang="en-US" sz="16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Younger, higher-income, more-educated individuals adopt at substantially higher rates.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5257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countries: </a:t>
            </a:r>
            <a:pPr indent="0" marL="0">
              <a:buNone/>
            </a:pPr>
            <a:r>
              <a:rPr lang="en-US" sz="16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correlates strongly with GDP per capita and internet penetration.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74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</a:t>
            </a:r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Research</a:t>
            </a:r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primary data sources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into a 10-sheet master workbook (38 countries)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737360"/>
            <a:ext cx="35204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WITHIN-COUNTRY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4963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use by US adults (n=5,123, 2025); by age + education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999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25526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AI use by household income (Dec 2025)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3758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0142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of US workers use AI on the job (Oct 2025)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45171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Brookings / RPS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7731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generative AI use by demographics (2024)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5276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5532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GenAI use by country and age group (2025)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3520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4963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Diffusion Report 2025 H2 — % of working-age pop using GenAI (top 30)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2999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HAI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25526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Index 2025 — country-level optimism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758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0142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 2024 — 32-country attitudes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45171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47731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Index Sept 2025 — per-capita Claude usage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5276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Capitalist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5532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GPO-AI 2024 — daily/weekly use, 21 countries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412480" y="1737360"/>
            <a:ext cx="35204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2240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/ World Bank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24963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(PPP), 2024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2999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/ World Bank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0" y="325526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 (% of population), 2024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03920" y="3758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0142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education completion rate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74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</a:t>
            </a:r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Research</a:t>
            </a:r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tested it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compare, correlate — then check the numbers two different ways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5029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6596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sources → 10-sheet workbook with merged Master_Country sheet (38 countries)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029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6948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US/EU adoption rates by age, income, education vs. national average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291840"/>
            <a:ext cx="5029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35661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96596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6596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country-level adoption and GDP, internet, education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291840"/>
            <a:ext cx="5029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35661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6948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6948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Python correlations against Excel CORREL() formulas in workbook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 different adoption definitions (have-ever-used vs. used-in-last-3-months vs. daily). Cross-source comparisons are indicative; the Microsoft and Eurostat measures are most directly comparable.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74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</a:t>
            </a:r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Research</a:t>
            </a:r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 — The within-country divide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and more-educated adults use ChatGPT far more than everyone else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5.8x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· </a:t>
            </a:r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adults under 30 use ChatGPT than 65+
</a:t>
            </a:r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(58% vs. 10% — Pew, 2025)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2.9x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· </a:t>
            </a:r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Postgrads use ChatGPT than HS-or-less
</a:t>
            </a:r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(52% vs. 18% — Pew, 2025)</a:t>
            </a:r>
            <a:endParaRPr lang="en-US" sz="1300" dirty="0"/>
          </a:p>
        </p:txBody>
      </p:sp>
      <p:pic>
        <p:nvPicPr>
          <p:cNvPr id="13" name="Image 0" descr="/sessions/wizardly-lucid-davinci/mnt/Project/figures/chart1_us_adoption_by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554480"/>
            <a:ext cx="6126480" cy="2926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03520" y="45262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ChatGPT use by US adults, by age. Source: Pew Research Center, June 2025 (n=5,123).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shows up in Europe — Eurostat reports 64% of 16-24 year-olds use generative AI vs. 7% of 65-74 year-olds.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74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</a:t>
            </a:r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Research</a:t>
            </a:r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B — The across-country divide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countries use AI more — and the link is strong, not subtle</a:t>
            </a:r>
            <a:endParaRPr lang="en-US" sz="1400" dirty="0"/>
          </a:p>
        </p:txBody>
      </p:sp>
      <p:pic>
        <p:nvPicPr>
          <p:cNvPr id="9" name="Image 0" descr="/sessions/wizardly-lucid-davinci/mnt/Project/figures/chart4_adoption_vs_gd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7589520" cy="4114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0" y="1737360"/>
            <a:ext cx="292608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6968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+0.72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86968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× GDP/cap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6968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+0.61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8696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× Internet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869680" y="4617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+0.51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869680" y="5120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× Tertiary ed.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69680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34 countries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Wealth, internet access, and education all predict how much a country uses AI. Of the three, wealth is the strongest predictor.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74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</a:t>
            </a:r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Research</a:t>
            </a:r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0"/>
            <a:ext cx="7315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Skeptics adopt more, enthusiasts adopt less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use is highest, public opinion of AI is actually lowest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−0.67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× AI optimism
</a:t>
            </a:r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16 countries with both measures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optimistic, lower adoption: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995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83%  ·  Indonesia 80%  ·  Thailand 77%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skeptical, higher adoption: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36%  ·  US 39%  ·  France 42%</a:t>
            </a:r>
            <a:endParaRPr lang="en-US" sz="1200" dirty="0"/>
          </a:p>
        </p:txBody>
      </p:sp>
      <p:pic>
        <p:nvPicPr>
          <p:cNvPr id="16" name="Image 0" descr="/sessions/wizardly-lucid-davinci/mnt/Project/figures/chart6_optimism_vs_ado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554480"/>
            <a:ext cx="6126480" cy="3840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03520" y="54406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Country-level AI adoption (Microsoft) vs. AI optimism (Stanford/Ipsos), n=16.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Liking AI and using AI turn out to be different things. One reading: people who actually use the tools see the failures up close.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74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</a:t>
            </a:r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Research</a:t>
            </a:r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&amp; scope of inference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findings should and should not be applied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17830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comparability · </a:t>
            </a:r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surveys define "adoption" differently — ever-used vs. last-3-months vs. daily. Direct comparisons are indicative.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048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49631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sampling bias · </a:t>
            </a:r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surveys are mostly online — likely overstating adoption in lower-internet countries.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1181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209544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Correlational, not causal · </a:t>
            </a:r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Pearson r only. Reverse causation (AI → productivity → GDP) cannot be ruled out.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831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392277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 for the twist · </a:t>
            </a:r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Optimism×adoption analysis rests on only 16 countries. Larger sampling needed to firmly establish the paradox.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544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6360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skews OECD · </a:t>
            </a:r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34-country adoption sample under-represents Sub-Saharan Africa and parts of Central Asia.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5486400"/>
            <a:ext cx="1051560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321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inference: </a:t>
            </a:r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generalize to OECD and middle-income economies. Not generalizable to low-income contexts — those need separate data.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4148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9144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(supported)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adoption follows existing digital-divide patterns. Within countries, age and education gradients are steep. Across countries, adoption tracks GDP (r=+0.72) and internet penetration (r=+0.61). AI is amplifying the digital divide.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refinement (new)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sentiment about AI is decoupled from — and inversely related to — actual usage (r=−0.67). Adoption and optimism are distinct outcomes with potentially different drivers. Future work should treat them separately.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897880"/>
            <a:ext cx="1078992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80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github.com/moh-a-abde/ai-adoption-research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080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Abdel-Hamid  · 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Adoption — Amplifying the Digital Divide</dc:title>
  <dc:subject>Data Preparation and Analysis, Spring 2026</dc:subject>
  <dc:creator>Mohamed Abdel-Hamid</dc:creator>
  <cp:lastModifiedBy>Mohamed Abdel-Hamid</cp:lastModifiedBy>
  <cp:revision>1</cp:revision>
  <dcterms:created xsi:type="dcterms:W3CDTF">2026-05-11T18:37:24Z</dcterms:created>
  <dcterms:modified xsi:type="dcterms:W3CDTF">2026-05-11T18:37:24Z</dcterms:modified>
</cp:coreProperties>
</file>